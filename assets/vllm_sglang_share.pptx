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vLLM vs SGLang：推理框架深度对比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/>
              <a:t>实测数据 · RTX 3060 12GB · Qwen2.5-1.5B</a:t>
            </a:r>
          </a:p>
          <a:p>
            <a:pPr>
              <a:spcAft>
                <a:spcPts val="800"/>
              </a:spcAft>
            </a:pPr>
            <a:r>
              <a:rPr sz="2200"/>
              <a:t>vLLM 0.22.1 / SGLang 0.5.13</a:t>
            </a:r>
          </a:p>
          <a:p>
            <a:pPr>
              <a:spcAft>
                <a:spcPts val="800"/>
              </a:spcAft>
            </a:pPr>
            <a:r>
              <a:rPr sz="2200"/>
              <a:t> </a:t>
            </a:r>
          </a:p>
          <a:p>
            <a:pPr>
              <a:spcAft>
                <a:spcPts val="800"/>
              </a:spcAft>
            </a:pPr>
            <a:r>
              <a:rPr sz="2200"/>
              <a:t>2026-07 技术分享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/>
              <a:t>① 为什么需要推理框架</a:t>
            </a:r>
          </a:p>
          <a:p>
            <a:pPr>
              <a:spcAft>
                <a:spcPts val="800"/>
              </a:spcAft>
            </a:pPr>
            <a:r>
              <a:rPr sz="2200"/>
              <a:t>② vLLM：三层优化(PagedAttention/Continuous Batching/APC)</a:t>
            </a:r>
          </a:p>
          <a:p>
            <a:pPr>
              <a:spcAft>
                <a:spcPts val="800"/>
              </a:spcAft>
            </a:pPr>
            <a:r>
              <a:rPr sz="2200"/>
              <a:t>③ SGLang：缓存粒度革新(RadixAttention)</a:t>
            </a:r>
          </a:p>
          <a:p>
            <a:pPr>
              <a:spcAft>
                <a:spcPts val="800"/>
              </a:spcAft>
            </a:pPr>
            <a:r>
              <a:rPr sz="2200"/>
              <a:t>④ 对比数据(吞吐/延迟/复用率)</a:t>
            </a:r>
          </a:p>
          <a:p>
            <a:pPr>
              <a:spcAft>
                <a:spcPts val="800"/>
              </a:spcAft>
            </a:pPr>
            <a:r>
              <a:rPr sz="2200"/>
              <a:t>⑤ 选型建议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① GPU 利用率：朴素推理在浪费什么？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decode 是访存瓶颈：每生成 1 token 要把整个模型权重</a:t>
            </a:r>
          </a:p>
          <a:p>
            <a:pPr>
              <a:spcAft>
                <a:spcPts val="800"/>
              </a:spcAft>
            </a:pPr>
            <a:r>
              <a:rPr sz="1800"/>
              <a:t>从显存搬一遍(1.5B≈3GB)。</a:t>
            </a:r>
          </a:p>
          <a:p>
            <a:pPr>
              <a:spcAft>
                <a:spcPts val="800"/>
              </a:spcAft>
            </a:pPr>
            <a:r>
              <a:rPr sz="1800"/>
              <a:t> </a:t>
            </a:r>
          </a:p>
          <a:p>
            <a:pPr>
              <a:spcAft>
                <a:spcPts val="800"/>
              </a:spcAft>
            </a:pPr>
            <a:r>
              <a:rPr sz="1800"/>
              <a:t>实测单请求 decode: 90 tok/s</a:t>
            </a:r>
          </a:p>
          <a:p>
            <a:pPr>
              <a:spcAft>
                <a:spcPts val="800"/>
              </a:spcAft>
            </a:pPr>
            <a:r>
              <a:rPr sz="1800"/>
              <a:t>batch=10 时: 849 tok/s 总吞吐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单请求时 GPU 算力大量闲置，等串行依赖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推理框架的核心价值: 榨干这部分闲置算力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② KV Cache：推理的核心瓶颈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KV Cache 存历史 token 的 Key/Value，避免重算。</a:t>
            </a:r>
          </a:p>
          <a:p>
            <a:pPr>
              <a:spcAft>
                <a:spcPts val="800"/>
              </a:spcAft>
            </a:pPr>
            <a:r>
              <a:rPr sz="1800"/>
              <a:t>但它吃满显存——KV 越大，能并发的 batch 越小。</a:t>
            </a:r>
          </a:p>
          <a:p>
            <a:pPr>
              <a:spcAft>
                <a:spcPts val="800"/>
              </a:spcAft>
            </a:pPr>
            <a:r>
              <a:rPr sz="1800"/>
              <a:t> </a:t>
            </a:r>
          </a:p>
          <a:p>
            <a:pPr>
              <a:spcAft>
                <a:spcPts val="800"/>
              </a:spcAft>
            </a:pPr>
            <a:r>
              <a:rPr sz="1800"/>
              <a:t>传统方案: 每请求预留 max_len 连续显存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10 个 50-token 请求，浪费 98.8%!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KV 管理决定吞吐: 谁能装下更多并发请求，谁吞吐高</a:t>
            </a:r>
          </a:p>
        </p:txBody>
      </p:sp>
      <p:pic>
        <p:nvPicPr>
          <p:cNvPr id="4" name="Picture 3" descr="kvcache_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754880" cy="15248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③ 传统 KV Cache 的内存浪费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问题: 预分配 max_len → 外部碎片 + 内部浪费</a:t>
            </a:r>
          </a:p>
          <a:p>
            <a:pPr>
              <a:spcAft>
                <a:spcPts val="800"/>
              </a:spcAft>
            </a:pPr>
            <a:r>
              <a:rPr sz="1800"/>
              <a:t> </a:t>
            </a:r>
          </a:p>
          <a:p>
            <a:pPr>
              <a:spcAft>
                <a:spcPts val="800"/>
              </a:spcAft>
            </a:pPr>
            <a:r>
              <a:rPr sz="1800"/>
              <a:t>vLLM 之前: 业界要么预留(浪费)，要么频繁搬迁(慢)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PagedAttention 借鉴操作系统虚拟内存:</a:t>
            </a:r>
          </a:p>
          <a:p>
            <a:pPr>
              <a:spcAft>
                <a:spcPts val="800"/>
              </a:spcAft>
            </a:pPr>
            <a:r>
              <a:rPr sz="1800"/>
              <a:t>   分页 + 按需分配 + 间接寻址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浪费从 98.8% 压到 21.9%，同显存多服务 65 倍请求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vLLM ①: PagedAttention — 向操作系统学内存管理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KV 切成 16-token 块，Block Table 间接寻址</a:t>
            </a:r>
          </a:p>
          <a:p>
            <a:pPr>
              <a:spcAft>
                <a:spcPts val="800"/>
              </a:spcAft>
            </a:pPr>
            <a:r>
              <a:rPr sz="1800"/>
              <a:t>(逻辑连续 / 物理离散)</a:t>
            </a:r>
          </a:p>
          <a:p>
            <a:pPr>
              <a:spcAft>
                <a:spcPts val="800"/>
              </a:spcAft>
            </a:pPr>
            <a:r>
              <a:rPr sz="1800"/>
              <a:t> </a:t>
            </a:r>
          </a:p>
          <a:p>
            <a:pPr>
              <a:spcAft>
                <a:spcPts val="800"/>
              </a:spcAft>
            </a:pPr>
            <a:r>
              <a:rPr sz="1800"/>
              <a:t>实测(RTX 3060): 14268 块 × 16 = 228,288 token</a:t>
            </a:r>
          </a:p>
          <a:p>
            <a:pPr>
              <a:spcAft>
                <a:spcPts val="800"/>
              </a:spcAft>
            </a:pPr>
            <a:r>
              <a:rPr sz="1800"/>
              <a:t>并发上限 55.73x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free list + 引用计数 + LRU + 惰性失效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本质是操作系统页分配器搬到 KV cache</a:t>
            </a:r>
          </a:p>
        </p:txBody>
      </p:sp>
      <p:pic>
        <p:nvPicPr>
          <p:cNvPr id="4" name="Picture 3" descr="pagedattention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24431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vLLM ②: Continuous Batching — 消灭等待气泡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逐 step 调度: 完成的请求立即移除，新请求随到随插</a:t>
            </a:r>
          </a:p>
          <a:p>
            <a:pPr>
              <a:spcAft>
                <a:spcPts val="800"/>
              </a:spcAft>
            </a:pPr>
            <a:r>
              <a:rPr sz="1800"/>
              <a:t>(不像传统 batching 要等最慢的)</a:t>
            </a:r>
          </a:p>
          <a:p>
            <a:pPr>
              <a:spcAft>
                <a:spcPts val="800"/>
              </a:spcAft>
            </a:pPr>
            <a:r>
              <a:rPr sz="1800"/>
              <a:t> </a:t>
            </a:r>
          </a:p>
          <a:p>
            <a:pPr>
              <a:spcAft>
                <a:spcPts val="800"/>
              </a:spcAft>
            </a:pPr>
            <a:r>
              <a:rPr sz="1800"/>
              <a:t>实测: 并发 1→5 吞吐涨 3 倍(28.9→88.1 RPS)</a:t>
            </a:r>
          </a:p>
          <a:p>
            <a:pPr>
              <a:spcAft>
                <a:spcPts val="800"/>
              </a:spcAft>
            </a:pPr>
            <a:r>
              <a:rPr sz="1800"/>
              <a:t>峰值 90.7 RPS，拐点并发 8-16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token_budget 共享: 长 prefill 不饿死 decode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vLLM ③: APC — 前缀只算一次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块哈希(链式): hash(块i)=f(hash(块i-1), tokens)</a:t>
            </a:r>
          </a:p>
          <a:p>
            <a:pPr>
              <a:spcAft>
                <a:spcPts val="800"/>
              </a:spcAft>
            </a:pPr>
            <a:r>
              <a:rPr sz="1800"/>
              <a:t>命中前缀块直接复用，跳过 prefill</a:t>
            </a:r>
          </a:p>
          <a:p>
            <a:pPr>
              <a:spcAft>
                <a:spcPts val="800"/>
              </a:spcAft>
            </a:pPr>
            <a:r>
              <a:rPr sz="1800"/>
              <a:t> </a:t>
            </a:r>
          </a:p>
          <a:p>
            <a:pPr>
              <a:spcAft>
                <a:spcPts val="800"/>
              </a:spcAft>
            </a:pPr>
            <a:r>
              <a:rPr sz="1800"/>
              <a:t>实测: WARM TTFT 33ms vs OFF 153ms (降 4.6x)</a:t>
            </a:r>
          </a:p>
          <a:p>
            <a:pPr>
              <a:spcAft>
                <a:spcPts val="800"/>
              </a:spcAft>
            </a:pPr>
            <a:r>
              <a:rPr sz="1800"/>
              <a:t>命中率 98.7%，只省 prefill 不影响 decode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但块粒度: 必须 16-token 对齐才命中</a:t>
            </a:r>
          </a:p>
        </p:txBody>
      </p:sp>
      <p:pic>
        <p:nvPicPr>
          <p:cNvPr id="4" name="Picture 3" descr="prefix_rati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19005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SGLang ①: RadixAttention — 缓存粒度降到 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radix 树 + page_size=1: 任意 token 位置可 split</a:t>
            </a:r>
          </a:p>
          <a:p>
            <a:pPr>
              <a:spcAft>
                <a:spcPts val="800"/>
              </a:spcAft>
            </a:pPr>
            <a:r>
              <a:rPr sz="1800"/>
              <a:t>前缀逐 token 精确复用(vLLM 是 16-token 块)</a:t>
            </a:r>
          </a:p>
          <a:p>
            <a:pPr>
              <a:spcAft>
                <a:spcPts val="800"/>
              </a:spcAft>
            </a:pPr>
            <a:r>
              <a:rPr sz="1800"/>
              <a:t> </a:t>
            </a:r>
          </a:p>
          <a:p>
            <a:pPr>
              <a:spcAft>
                <a:spcPts val="800"/>
              </a:spcAft>
            </a:pPr>
            <a:r>
              <a:rPr sz="1800"/>
              <a:t>实测半块前缀命中: SGLang 94.9% vs vLLM 82.1%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多救回 15 token = 一个 block 的对齐损失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缓存粒度才是 SGLang 的本质优势</a:t>
            </a:r>
          </a:p>
        </p:txBody>
      </p:sp>
      <p:pic>
        <p:nvPicPr>
          <p:cNvPr id="4" name="Picture 3" descr="radixattention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24431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SGLang ②: 缓存感知调度 + Compressed FSM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调度: cache-aware(LPM/DFS_WEIGHT)，主动把同前缀集中</a:t>
            </a:r>
          </a:p>
          <a:p>
            <a:pPr>
              <a:spcAft>
                <a:spcPts val="800"/>
              </a:spcAft>
            </a:pPr>
            <a:r>
              <a:rPr sz="1800"/>
              <a:t>(vLLM 是 FCFS)</a:t>
            </a:r>
          </a:p>
          <a:p>
            <a:pPr>
              <a:spcAft>
                <a:spcPts val="800"/>
              </a:spcAft>
            </a:pPr>
            <a:r>
              <a:rPr sz="1800"/>
              <a:t>Compressed FSM: JSON 确定性段一步跳过 → 吞吐+60%</a:t>
            </a:r>
          </a:p>
          <a:p>
            <a:pPr>
              <a:spcAft>
                <a:spcPts val="800"/>
              </a:spcAft>
            </a:pPr>
            <a:r>
              <a:rPr sz="1800"/>
              <a:t>HiCache: KV 可降级 CPU 二级缓存(放不下不丢)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SGLang 心疼每一份算过的 KV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对比 ①: 无共享前缀 → 两框架持平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固定输出，无前缀复用，3 轮中位数:</a:t>
            </a:r>
          </a:p>
          <a:p>
            <a:pPr>
              <a:spcAft>
                <a:spcPts val="800"/>
              </a:spcAft>
            </a:pPr>
            <a:r>
              <a:rPr sz="1800"/>
              <a:t> </a:t>
            </a:r>
          </a:p>
          <a:p>
            <a:pPr>
              <a:spcAft>
                <a:spcPts val="800"/>
              </a:spcAft>
            </a:pPr>
            <a:r>
              <a:rPr sz="1800"/>
              <a:t>并发32: vLLM 1443 vs SGLang 1342 tok/s (差 8%)</a:t>
            </a:r>
          </a:p>
          <a:p>
            <a:pPr>
              <a:spcAft>
                <a:spcPts val="800"/>
              </a:spcAft>
            </a:pPr>
            <a:r>
              <a:rPr sz="1800"/>
              <a:t>TTFT/ITL 也持平，拐点都在并发 8-16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无复用时两框架持平，vLLM 略优 + 生态成熟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社区(H100/ShareGPT)验证同样趋势</a:t>
            </a:r>
          </a:p>
        </p:txBody>
      </p:sp>
      <p:pic>
        <p:nvPicPr>
          <p:cNvPr id="4" name="Picture 3" descr="p1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754880" cy="29477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对比 ②: 高复用 → SGLang 2.1x (最关键)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前缀复用率 0→100% 梯度实验:</a:t>
            </a:r>
          </a:p>
          <a:p>
            <a:pPr>
              <a:spcAft>
                <a:spcPts val="800"/>
              </a:spcAft>
            </a:pPr>
            <a:r>
              <a:rPr sz="1800"/>
              <a:t> </a:t>
            </a:r>
          </a:p>
          <a:p>
            <a:pPr>
              <a:spcAft>
                <a:spcPts val="800"/>
              </a:spcAft>
            </a:pPr>
            <a:r>
              <a:rPr sz="1800"/>
              <a:t>0% 复用: RPS 7.31 vs 7.08 (持平)</a:t>
            </a:r>
          </a:p>
          <a:p>
            <a:pPr>
              <a:spcAft>
                <a:spcPts val="800"/>
              </a:spcAft>
            </a:pPr>
            <a:r>
              <a:rPr sz="1800"/>
              <a:t>100% 复用: RPS 8.88 vs 18.95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★ SGLang 吞吐 2.1x !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大量请求共享同一长前缀时，radix 树全局共享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成本可减半</a:t>
            </a:r>
          </a:p>
        </p:txBody>
      </p:sp>
      <p:pic>
        <p:nvPicPr>
          <p:cNvPr id="4" name="Picture 3" descr="prefix_rati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754880" cy="19765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对比 ③: 核心差异 — 命中粒度 1 vs 16 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vLLM 块哈希: 16-token 块，整块对齐才命中</a:t>
            </a:r>
          </a:p>
          <a:p>
            <a:pPr>
              <a:spcAft>
                <a:spcPts val="800"/>
              </a:spcAft>
            </a:pPr>
            <a:r>
              <a:rPr sz="1800"/>
              <a:t>SGLang radix: 1-token，任意长度命中</a:t>
            </a:r>
          </a:p>
          <a:p>
            <a:pPr>
              <a:spcAft>
                <a:spcPts val="800"/>
              </a:spcAft>
            </a:pPr>
            <a:r>
              <a:rPr sz="1800"/>
              <a:t> 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共享前缀不对齐块边界时，vLLM 尾部一整块白算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这就是高复用 SGLang 占优的根源</a:t>
            </a:r>
          </a:p>
        </p:txBody>
      </p:sp>
      <p:pic>
        <p:nvPicPr>
          <p:cNvPr id="4" name="Picture 3" descr="kvcache_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754880" cy="15248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选型建议: 复用率决定选型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通用/低复用(批量翻译/独立摘要):</a:t>
            </a:r>
          </a:p>
          <a:p>
            <a:pPr>
              <a:spcAft>
                <a:spcPts val="800"/>
              </a:spcAft>
            </a:pPr>
            <a:r>
              <a:rPr sz="1800"/>
              <a:t>  → vLLM (略优 + 生态成熟)</a:t>
            </a:r>
          </a:p>
          <a:p>
            <a:pPr>
              <a:spcAft>
                <a:spcPts val="800"/>
              </a:spcAft>
            </a:pPr>
            <a:r>
              <a:rPr sz="1800"/>
              <a:t>高复用(统一 system prompt/RAG/Agent):</a:t>
            </a:r>
          </a:p>
          <a:p>
            <a:pPr>
              <a:spcAft>
                <a:spcPts val="800"/>
              </a:spcAft>
            </a:pPr>
            <a:r>
              <a:rPr sz="1800"/>
              <a:t>  → SGLang (吞吐 2.1x，成本减半)</a:t>
            </a:r>
          </a:p>
          <a:p>
            <a:pPr>
              <a:spcAft>
                <a:spcPts val="800"/>
              </a:spcAft>
            </a:pPr>
            <a:r>
              <a:rPr sz="1800"/>
              <a:t>延迟/结构化输出/量化: 两者相当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6A3E"/>
                </a:solidFill>
              </a:rPr>
              <a:t>→ 看负载特征，不看'哪个更好'</a:t>
            </a:r>
          </a:p>
        </p:txBody>
      </p:sp>
      <p:pic>
        <p:nvPicPr>
          <p:cNvPr id="4" name="Picture 3" descr="selection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754880" cy="33140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一句话结论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/>
              <a:t> </a:t>
            </a:r>
          </a:p>
          <a:p>
            <a:pPr>
              <a:spcAft>
                <a:spcPts val="800"/>
              </a:spcAft>
            </a:pPr>
            <a:r>
              <a:rPr sz="2200"/>
              <a:t>KV Cache 管理(块 vs token)是两框架最大差异。</a:t>
            </a:r>
          </a:p>
          <a:p>
            <a:pPr>
              <a:spcAft>
                <a:spcPts val="800"/>
              </a:spcAft>
            </a:pPr>
            <a:r>
              <a:rPr sz="2200"/>
              <a:t> 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2D6A3E"/>
                </a:solidFill>
              </a:rPr>
              <a:t>★ 复用率是分水岭:</a:t>
            </a:r>
          </a:p>
          <a:p>
            <a:pPr>
              <a:spcAft>
                <a:spcPts val="800"/>
              </a:spcAft>
            </a:pPr>
            <a:r>
              <a:rPr sz="2200"/>
              <a:t>   无复用持平(vLLM略优) → 高复用 SGLang 2.1x</a:t>
            </a:r>
          </a:p>
          <a:p>
            <a:pPr>
              <a:spcAft>
                <a:spcPts val="800"/>
              </a:spcAft>
            </a:pPr>
            <a:r>
              <a:rPr sz="2200"/>
              <a:t> </a:t>
            </a:r>
          </a:p>
          <a:p>
            <a:pPr>
              <a:spcAft>
                <a:spcPts val="800"/>
              </a:spcAft>
            </a:pPr>
            <a:r>
              <a:rPr sz="2200"/>
              <a:t>通用选 vLLM，高复用选 SGLang。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谢谢 ·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实测环境: RTX 3060 12GB / Qwen2.5-1.5B</a:t>
            </a:r>
          </a:p>
          <a:p>
            <a:pPr>
              <a:spcAft>
                <a:spcPts val="800"/>
              </a:spcAft>
            </a:pPr>
            <a:r>
              <a:rPr sz="2000"/>
              <a:t>数据: 3 轮中位数，社区交叉验证</a:t>
            </a:r>
          </a:p>
          <a:p>
            <a:pPr>
              <a:spcAft>
                <a:spcPts val="800"/>
              </a:spcAft>
            </a:pPr>
            <a:r>
              <a:rPr sz="2000"/>
              <a:t> </a:t>
            </a:r>
          </a:p>
          <a:p>
            <a:pPr>
              <a:spcAft>
                <a:spcPts val="800"/>
              </a:spcAft>
            </a:pPr>
            <a:r>
              <a:rPr sz="2000"/>
              <a:t>局限: 趋势可外推，绝对数字需目标硬件实测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